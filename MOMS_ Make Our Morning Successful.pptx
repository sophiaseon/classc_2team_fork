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24384000" cy="13716000"/>
  <p:notesSz cx="6858000" cy="9144000"/>
  <p:embeddedFontLst>
    <p:embeddedFont>
      <p:font typeface="SB AggroOTF Medium"/>
      <p:regular r:id="rId18"/>
    </p:embeddedFont>
    <p:embeddedFont>
      <p:font typeface="SB AggroOTF Light"/>
      <p:regular r:id="rId19"/>
    </p:embeddedFont>
    <p:embeddedFont>
      <p:font typeface="Pretendard Bold"/>
      <p:bold r:id="rId20"/>
    </p:embeddedFont>
    <p:embeddedFont>
      <p:font typeface="Pretendard Regular"/>
      <p:regular r:id="rId21"/>
    </p:embeddedFont>
    <p:embeddedFont>
      <p:font typeface="SB AggroOTF Bold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.fntdata" Type="http://schemas.openxmlformats.org/officeDocument/2006/relationships/font"/><Relationship Id="rId19" Target="fonts/font2.fntdata" Type="http://schemas.openxmlformats.org/officeDocument/2006/relationships/font"/><Relationship Id="rId2" Target="presProps.xml" Type="http://schemas.openxmlformats.org/officeDocument/2006/relationships/presProps"/><Relationship Id="rId20" Target="fonts/font3.fntdata" Type="http://schemas.openxmlformats.org/officeDocument/2006/relationships/font"/><Relationship Id="rId21" Target="fonts/font4.fntdata" Type="http://schemas.openxmlformats.org/officeDocument/2006/relationships/font"/><Relationship Id="rId22" Target="fonts/font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1.png" Type="http://schemas.openxmlformats.org/officeDocument/2006/relationships/image"/><Relationship Id="rId12" Target="../media/image20.png" Type="http://schemas.openxmlformats.org/officeDocument/2006/relationships/image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1.png" Type="http://schemas.openxmlformats.org/officeDocument/2006/relationships/image"/><Relationship Id="rId12" Target="../media/image22.png" Type="http://schemas.openxmlformats.org/officeDocument/2006/relationships/image"/><Relationship Id="rId2" Target="../media/image21.png" Type="http://schemas.openxmlformats.org/officeDocument/2006/relationships/image"/><Relationship Id="rId3" Target="../media/image1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1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2" Target="../media/image32.png" Type="http://schemas.openxmlformats.org/officeDocument/2006/relationships/image"/><Relationship Id="rId3" Target="../media/image1.png" Type="http://schemas.openxmlformats.org/officeDocument/2006/relationships/image"/><Relationship Id="rId4" Target="../media/image33.png" Type="http://schemas.openxmlformats.org/officeDocument/2006/relationships/image"/><Relationship Id="rId5" Target="../media/image9.png" Type="http://schemas.openxmlformats.org/officeDocument/2006/relationships/image"/><Relationship Id="rId6" Target="../media/image11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1.png" Type="http://schemas.openxmlformats.org/officeDocument/2006/relationships/image"/><Relationship Id="rId12" Target="../media/image40.png" Type="http://schemas.openxmlformats.org/officeDocument/2006/relationships/image"/><Relationship Id="rId2" Target="../media/image38.png" Type="http://schemas.openxmlformats.org/officeDocument/2006/relationships/image"/><Relationship Id="rId3" Target="../media/image1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39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2" Target="../media/image41.png" Type="http://schemas.openxmlformats.org/officeDocument/2006/relationships/image"/><Relationship Id="rId3" Target="../media/image24.png" Type="http://schemas.openxmlformats.org/officeDocument/2006/relationships/image"/><Relationship Id="rId4" Target="../media/image1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42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1.png" Type="http://schemas.openxmlformats.org/officeDocument/2006/relationships/image"/><Relationship Id="rId12" Target="../media/image45.png" Type="http://schemas.openxmlformats.org/officeDocument/2006/relationships/image"/><Relationship Id="rId2" Target="../media/image43.png" Type="http://schemas.openxmlformats.org/officeDocument/2006/relationships/image"/><Relationship Id="rId3" Target="../media/image1.png" Type="http://schemas.openxmlformats.org/officeDocument/2006/relationships/image"/><Relationship Id="rId4" Target="../media/image4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1.png" Type="http://schemas.openxmlformats.org/officeDocument/2006/relationships/image"/><Relationship Id="rId12" Target="../media/image22.png" Type="http://schemas.openxmlformats.org/officeDocument/2006/relationships/image"/><Relationship Id="rId2" Target="../media/image24.png" Type="http://schemas.openxmlformats.org/officeDocument/2006/relationships/image"/><Relationship Id="rId3" Target="../media/image1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47.png" Type="http://schemas.openxmlformats.org/officeDocument/2006/relationships/image"/><Relationship Id="rId6" Target="../media/image9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8F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" y="12877800"/>
            <a:ext cx="23012400" cy="8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4787900" y="12954000"/>
            <a:ext cx="33058100" cy="120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73200" y="9639300"/>
            <a:ext cx="546100" cy="546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907500" y="1841500"/>
            <a:ext cx="6096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139400" y="3187700"/>
            <a:ext cx="127000" cy="127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31800" y="11125200"/>
            <a:ext cx="152400" cy="152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247900" y="5803900"/>
            <a:ext cx="19951700" cy="4660900"/>
          </a:xfrm>
          <a:prstGeom prst="rect">
            <a:avLst/>
          </a:prstGeom>
        </p:spPr>
        <p:txBody>
          <a:bodyPr anchor="t" rtlCol="false" lIns="0" tIns="179493" rIns="0" bIns="0"/>
          <a:lstStyle/>
          <a:p>
            <a:pPr algn="ctr" lvl="0">
              <a:lnSpc>
                <a:spcPct val="99600"/>
              </a:lnSpc>
            </a:pPr>
            <a:r>
              <a:rPr lang="en-US" sz="14133" b="false" i="false" u="none" strike="noStrike" spc="-12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MOMS: Make Our Morning Successful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641600" y="3022600"/>
            <a:ext cx="19367500" cy="1816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-2160000">
            <a:off x="1384300" y="1765300"/>
            <a:ext cx="2349500" cy="25273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4140200" y="3454400"/>
            <a:ext cx="17272000" cy="711200"/>
          </a:xfrm>
          <a:prstGeom prst="rect">
            <a:avLst/>
          </a:prstGeom>
        </p:spPr>
        <p:txBody>
          <a:bodyPr anchor="t" rtlCol="false" lIns="0" tIns="50800" rIns="0" bIns="0"/>
          <a:lstStyle/>
          <a:p>
            <a:pPr algn="ctr" lvl="0">
              <a:lnSpc>
                <a:spcPct val="99600"/>
              </a:lnSpc>
            </a:pPr>
            <a:r>
              <a:rPr lang="en-US" sz="4000" b="false" i="false" u="none" strike="noStrike" spc="-300">
                <a:solidFill>
                  <a:srgbClr val="000000"/>
                </a:solidFill>
                <a:latin typeface="SB AggroOTF Light"/>
                <a:ea typeface="SB AggroOTF Light"/>
                <a:cs typeface="SB AggroOTF Light"/>
              </a:rPr>
              <a:t>스마트 알람 어플 결과보고서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662900" y="647700"/>
            <a:ext cx="2692400" cy="266700"/>
          </a:xfrm>
          <a:prstGeom prst="rect">
            <a:avLst/>
          </a:prstGeom>
        </p:spPr>
        <p:txBody>
          <a:bodyPr anchor="ctr" rtlCol="false" lIns="0" tIns="18627" rIns="0" bIns="18627"/>
          <a:lstStyle/>
          <a:p>
            <a:pPr algn="ctr" lvl="0">
              <a:lnSpc>
                <a:spcPct val="99600"/>
              </a:lnSpc>
            </a:pPr>
            <a:r>
              <a:rPr lang="en-US" sz="1466" b="false" i="false" u="none" strike="noStrike" spc="-100">
                <a:solidFill>
                  <a:srgbClr val="222222"/>
                </a:solidFill>
                <a:latin typeface="SB AggroOTF Medium"/>
                <a:ea typeface="SB AggroOTF Medium"/>
                <a:cs typeface="SB AggroOTF Medium"/>
              </a:rPr>
              <a:t> www.miricompany.com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8F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51000" y="2959100"/>
            <a:ext cx="1270000" cy="1003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90700" y="30988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38500" y="3429000"/>
            <a:ext cx="8369300" cy="571500"/>
          </a:xfrm>
          <a:prstGeom prst="rect">
            <a:avLst/>
          </a:prstGeom>
        </p:spPr>
        <p:txBody>
          <a:bodyPr anchor="b" rtlCol="false" lIns="0" tIns="0" rIns="0" bIns="40640"/>
          <a:lstStyle/>
          <a:p>
            <a:pPr algn="l" lvl="0">
              <a:lnSpc>
                <a:spcPct val="99600"/>
              </a:lnSpc>
            </a:pPr>
            <a:r>
              <a:rPr lang="en-US" sz="3200" b="false" i="false" u="none" strike="noStrike" spc="-3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프로젝트 개요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38500" y="4076700"/>
            <a:ext cx="8343900" cy="12827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MOMS 프로젝트 소개</a:t>
            </a:r>
          </a:p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'Make Our Morning Successful'의 의미</a:t>
            </a:r>
          </a:p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스마트 알람 어플의 목적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24000" y="5689600"/>
            <a:ext cx="10109200" cy="5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890500" y="2959100"/>
            <a:ext cx="1270000" cy="1003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030200" y="30988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90700" y="3429000"/>
            <a:ext cx="8369300" cy="571500"/>
          </a:xfrm>
          <a:prstGeom prst="rect">
            <a:avLst/>
          </a:prstGeom>
        </p:spPr>
        <p:txBody>
          <a:bodyPr anchor="b" rtlCol="false" lIns="0" tIns="0" rIns="0" bIns="40640"/>
          <a:lstStyle/>
          <a:p>
            <a:pPr algn="l" lvl="0">
              <a:lnSpc>
                <a:spcPct val="99600"/>
              </a:lnSpc>
            </a:pPr>
            <a:r>
              <a:rPr lang="en-US" sz="3200" b="false" i="false" u="none" strike="noStrike" spc="-3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개발 배경 및 필요성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90700" y="4076700"/>
            <a:ext cx="8343900" cy="12827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기존 알람의 문제점</a:t>
            </a:r>
          </a:p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성공적인 아침을 위한 솔루션</a:t>
            </a:r>
          </a:p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사용자 니즈 분석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63500" y="5689600"/>
            <a:ext cx="10109200" cy="5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51000" y="6438900"/>
            <a:ext cx="1270000" cy="10033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790700" y="65786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38500" y="6921500"/>
            <a:ext cx="8369300" cy="571500"/>
          </a:xfrm>
          <a:prstGeom prst="rect">
            <a:avLst/>
          </a:prstGeom>
        </p:spPr>
        <p:txBody>
          <a:bodyPr anchor="b" rtlCol="false" lIns="0" tIns="0" rIns="0" bIns="40640"/>
          <a:lstStyle/>
          <a:p>
            <a:pPr algn="l" lvl="0">
              <a:lnSpc>
                <a:spcPct val="99600"/>
              </a:lnSpc>
            </a:pPr>
            <a:r>
              <a:rPr lang="en-US" sz="3200" b="false" i="false" u="none" strike="noStrike" spc="-3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시스템 구성 및 주요 기능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38500" y="7556500"/>
            <a:ext cx="8343900" cy="12827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라즈베리파이3 기반 시스템</a:t>
            </a:r>
          </a:p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주요 기능 소개</a:t>
            </a:r>
          </a:p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사용자 인터페이스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9169400"/>
            <a:ext cx="10109200" cy="5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890500" y="6438900"/>
            <a:ext cx="1270000" cy="1003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3030200" y="65786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90700" y="6921500"/>
            <a:ext cx="8369300" cy="571500"/>
          </a:xfrm>
          <a:prstGeom prst="rect">
            <a:avLst/>
          </a:prstGeom>
        </p:spPr>
        <p:txBody>
          <a:bodyPr anchor="b" rtlCol="false" lIns="0" tIns="0" rIns="0" bIns="40640"/>
          <a:lstStyle/>
          <a:p>
            <a:pPr algn="l" lvl="0">
              <a:lnSpc>
                <a:spcPct val="99600"/>
              </a:lnSpc>
            </a:pPr>
            <a:r>
              <a:rPr lang="en-US" sz="3200" b="false" i="false" u="none" strike="noStrike" spc="-3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기술 구현 및 검증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90700" y="7556500"/>
            <a:ext cx="8343900" cy="12827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기술 구현 방법</a:t>
            </a:r>
          </a:p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테스트 및 검증 결과</a:t>
            </a:r>
          </a:p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성능 평가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63500" y="9169400"/>
            <a:ext cx="10109200" cy="50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51000" y="9931400"/>
            <a:ext cx="1270000" cy="10033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790700" y="100711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238500" y="10363200"/>
            <a:ext cx="8369300" cy="571500"/>
          </a:xfrm>
          <a:prstGeom prst="rect">
            <a:avLst/>
          </a:prstGeom>
        </p:spPr>
        <p:txBody>
          <a:bodyPr anchor="b" rtlCol="false" lIns="0" tIns="0" rIns="0" bIns="40640"/>
          <a:lstStyle/>
          <a:p>
            <a:pPr algn="l" lvl="0">
              <a:lnSpc>
                <a:spcPct val="99600"/>
              </a:lnSpc>
            </a:pPr>
            <a:r>
              <a:rPr lang="en-US" sz="3200" b="false" i="false" u="none" strike="noStrike" spc="-3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프로젝트 성과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38500" y="11049000"/>
            <a:ext cx="8343900" cy="12827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목표 달성도</a:t>
            </a:r>
          </a:p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기대 효과</a:t>
            </a:r>
          </a:p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개선된 아침 루틴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12661900"/>
            <a:ext cx="10109200" cy="50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890500" y="9931400"/>
            <a:ext cx="1270000" cy="10033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3030200" y="100711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490700" y="10401300"/>
            <a:ext cx="8369300" cy="571500"/>
          </a:xfrm>
          <a:prstGeom prst="rect">
            <a:avLst/>
          </a:prstGeom>
        </p:spPr>
        <p:txBody>
          <a:bodyPr anchor="b" rtlCol="false" lIns="0" tIns="0" rIns="0" bIns="40640"/>
          <a:lstStyle/>
          <a:p>
            <a:pPr algn="l" lvl="0">
              <a:lnSpc>
                <a:spcPct val="99600"/>
              </a:lnSpc>
            </a:pPr>
            <a:r>
              <a:rPr lang="en-US" sz="3200" b="false" i="false" u="none" strike="noStrike" spc="-3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결론 및 향후 전망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490700" y="11049000"/>
            <a:ext cx="8343900" cy="12827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프로젝트 요약</a:t>
            </a:r>
          </a:p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MOMS의 의의</a:t>
            </a:r>
          </a:p>
          <a:p>
            <a:pPr algn="l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000000">
                    <a:alpha val="38039"/>
                  </a:srgbClr>
                </a:solidFill>
                <a:latin typeface="SB AggroOTF Light"/>
                <a:ea typeface="SB AggroOTF Light"/>
                <a:cs typeface="SB AggroOTF Light"/>
              </a:rPr>
              <a:t>- 향후 개선 방향 및 전망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63500" y="12661900"/>
            <a:ext cx="10109200" cy="508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635000" y="596900"/>
            <a:ext cx="23139400" cy="1422400"/>
          </a:xfrm>
          <a:prstGeom prst="rect">
            <a:avLst/>
          </a:prstGeom>
        </p:spPr>
        <p:txBody>
          <a:bodyPr anchor="ctr" rtlCol="false" lIns="0" tIns="101600" rIns="0" bIns="101600"/>
          <a:lstStyle/>
          <a:p>
            <a:pPr algn="ctr" lvl="0">
              <a:lnSpc>
                <a:spcPct val="99600"/>
              </a:lnSpc>
            </a:pPr>
            <a:r>
              <a:rPr lang="en-US" sz="8000" b="false" i="false" u="none" strike="noStrike" spc="-5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8F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787900" y="12954000"/>
            <a:ext cx="33058100" cy="120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877800"/>
            <a:ext cx="23012400" cy="88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77900" y="1143000"/>
            <a:ext cx="22745700" cy="1422400"/>
          </a:xfrm>
          <a:prstGeom prst="rect">
            <a:avLst/>
          </a:prstGeom>
        </p:spPr>
        <p:txBody>
          <a:bodyPr anchor="ctr" rtlCol="false" lIns="0" tIns="101600" rIns="0" bIns="101600"/>
          <a:lstStyle/>
          <a:p>
            <a:pPr algn="l" lvl="0">
              <a:lnSpc>
                <a:spcPct val="99600"/>
              </a:lnSpc>
            </a:pPr>
            <a:r>
              <a:rPr lang="en-US" sz="8000" b="false" i="false" u="none" strike="noStrike" spc="-3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프로젝트 개요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254000"/>
            <a:ext cx="4699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2100" y="1358900"/>
            <a:ext cx="88900" cy="88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698200" y="3683000"/>
            <a:ext cx="4699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682200" y="2794000"/>
            <a:ext cx="88900" cy="88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05000" y="3403600"/>
            <a:ext cx="6032500" cy="902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905000" y="3416300"/>
            <a:ext cx="254000" cy="8978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590800" y="4572000"/>
            <a:ext cx="4965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MOMS 프로젝트 소개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90800" y="5270500"/>
            <a:ext cx="4953000" cy="334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라즈베리파이3 기반 스마트 알람 시스템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성공적인 아침을 만들기 위한 혁신적 솔루션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맞춤형 알람 기능 제공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IoT 기술을 활용한 지능형 알람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1900" y="2959100"/>
            <a:ext cx="1270000" cy="1003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371600" y="30734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01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12300" y="3403600"/>
            <a:ext cx="6032500" cy="902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512300" y="3416300"/>
            <a:ext cx="254000" cy="8978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210800" y="4013200"/>
            <a:ext cx="4965700" cy="11430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'Make Our Morning Successful'의 의미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10800" y="5270500"/>
            <a:ext cx="4953000" cy="2209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매일 아침을 성공적으로 시작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사용자의 생활 패턴 최적화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효율적인 기상 경험 제공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건강한 아침 루틴 형성 지원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839200" y="2959100"/>
            <a:ext cx="1270000" cy="10033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8991600" y="30734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02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19600" y="3403600"/>
            <a:ext cx="6032500" cy="902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19600" y="3416300"/>
            <a:ext cx="254000" cy="89789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7818100" y="4572000"/>
            <a:ext cx="4965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스마트 알람 어플의 목적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818100" y="5270500"/>
            <a:ext cx="4953000" cy="2209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기존 알람의 한계 극복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친화적 기상 환경 조성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맞춤형 알람 강도 조절 기능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성공적인 하루 시작 지원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459200" y="2959100"/>
            <a:ext cx="1270000" cy="1003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140000">
            <a:off x="14897100" y="11112500"/>
            <a:ext cx="2044700" cy="21971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6598900" y="30734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8F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787900" y="12954000"/>
            <a:ext cx="33058100" cy="120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877800"/>
            <a:ext cx="23012400" cy="88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77900" y="1143000"/>
            <a:ext cx="22745700" cy="1422400"/>
          </a:xfrm>
          <a:prstGeom prst="rect">
            <a:avLst/>
          </a:prstGeom>
        </p:spPr>
        <p:txBody>
          <a:bodyPr anchor="ctr" rtlCol="false" lIns="0" tIns="101600" rIns="0" bIns="101600"/>
          <a:lstStyle/>
          <a:p>
            <a:pPr algn="l" lvl="0">
              <a:lnSpc>
                <a:spcPct val="99600"/>
              </a:lnSpc>
            </a:pPr>
            <a:r>
              <a:rPr lang="en-US" sz="8000" b="false" i="false" u="none" strike="noStrike" spc="-3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개발 배경 및 필요성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254000"/>
            <a:ext cx="4699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2100" y="1358900"/>
            <a:ext cx="88900" cy="88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698200" y="3683000"/>
            <a:ext cx="4699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682200" y="2794000"/>
            <a:ext cx="88900" cy="88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05000" y="3403600"/>
            <a:ext cx="6032500" cy="902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905000" y="3416300"/>
            <a:ext cx="254000" cy="8978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590800" y="4572000"/>
            <a:ext cx="4965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기존 알람의 문제점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90800" y="5270500"/>
            <a:ext cx="4953000" cy="276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단순 반복적인 알람 소리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쉽게 무시되는 알람 기능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상태 미반영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획일적인 알람 방식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기상 후 피로감 지속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1900" y="2959100"/>
            <a:ext cx="1270000" cy="1003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371600" y="30734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01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12300" y="3403600"/>
            <a:ext cx="6032500" cy="902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512300" y="3416300"/>
            <a:ext cx="254000" cy="8978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210800" y="4013200"/>
            <a:ext cx="4965700" cy="11430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성공적인 아침을 위한 솔루션 필요성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10800" y="5270500"/>
            <a:ext cx="4953000" cy="276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개인 맞춤형 알람 시스템 필요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단계적 알람 강도 조절 요구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스마트 기기 연동 필요성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효과적인 기상 보조 기능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건강한 수면 패턴 관리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839200" y="2959100"/>
            <a:ext cx="1270000" cy="10033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8991600" y="30734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02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19600" y="3403600"/>
            <a:ext cx="6032500" cy="902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19600" y="3416300"/>
            <a:ext cx="254000" cy="89789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7818100" y="4572000"/>
            <a:ext cx="4965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사용자 니즈 분석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818100" y="5270500"/>
            <a:ext cx="4953000" cy="276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부드러운 기상 경험 선호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다양한 알람 해제 방식 요구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개인화된 알람 설정 필요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라즈베리파이 활용 확장성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 편의성 중시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459200" y="2959100"/>
            <a:ext cx="1270000" cy="1003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140000">
            <a:off x="14897100" y="11112500"/>
            <a:ext cx="2044700" cy="21971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6598900" y="30734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8F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90700" y="6680200"/>
            <a:ext cx="20078700" cy="424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4787900" y="12954000"/>
            <a:ext cx="33058100" cy="120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85800" y="12877800"/>
            <a:ext cx="23012400" cy="88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73700" y="6565900"/>
            <a:ext cx="292100" cy="29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678900" y="8648700"/>
            <a:ext cx="292100" cy="292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24900" y="10706100"/>
            <a:ext cx="292100" cy="292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253700" y="2959100"/>
            <a:ext cx="520700" cy="520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339300" y="4178300"/>
            <a:ext cx="101600" cy="10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78000" y="5359400"/>
            <a:ext cx="901700" cy="1409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765800" y="4318000"/>
            <a:ext cx="8953500" cy="200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라즈베리파이3를 중앙 제어 장치로 활용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저전력 고효율 임베디드 시스템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안정적인 24시간 구동 환경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확장 가능한 IoT 플랫폼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613400" y="2730500"/>
            <a:ext cx="5562600" cy="1320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5918200" y="3009900"/>
            <a:ext cx="5105400" cy="571500"/>
          </a:xfrm>
          <a:prstGeom prst="rect">
            <a:avLst/>
          </a:prstGeom>
        </p:spPr>
        <p:txBody>
          <a:bodyPr anchor="ctr" rtlCol="false" lIns="0" tIns="40640" rIns="0" bIns="40640"/>
          <a:lstStyle/>
          <a:p>
            <a:pPr algn="l" lvl="0">
              <a:lnSpc>
                <a:spcPct val="99600"/>
              </a:lnSpc>
            </a:pPr>
            <a:r>
              <a:rPr lang="en-US" sz="3200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라즈베리파이3 기반 시스템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471900" y="5092700"/>
            <a:ext cx="5562600" cy="13208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6764000" y="5359400"/>
            <a:ext cx="5105400" cy="571500"/>
          </a:xfrm>
          <a:prstGeom prst="rect">
            <a:avLst/>
          </a:prstGeom>
        </p:spPr>
        <p:txBody>
          <a:bodyPr anchor="ctr" rtlCol="false" lIns="0" tIns="40640" rIns="0" bIns="40640"/>
          <a:lstStyle/>
          <a:p>
            <a:pPr algn="l" lvl="0">
              <a:lnSpc>
                <a:spcPct val="99600"/>
              </a:lnSpc>
            </a:pPr>
            <a:r>
              <a:rPr lang="en-US" sz="3200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하드웨어 구성 요소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70000" y="7251700"/>
            <a:ext cx="6667500" cy="250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라즈베리파이3 메인보드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스피커 및 오디오 출력 장치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센서 모듈 (선택적 연동)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전원 공급 장치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입력 인터페이스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05100" y="9118600"/>
            <a:ext cx="5384800" cy="250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Python 기반 개발 환경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알람 스케줄링 시스템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인터페이스 모듈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데이터 관리 시스템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시스템 통합 프레임워크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705100" y="7467600"/>
            <a:ext cx="5562600" cy="13208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2997200" y="7747000"/>
            <a:ext cx="5105400" cy="571500"/>
          </a:xfrm>
          <a:prstGeom prst="rect">
            <a:avLst/>
          </a:prstGeom>
        </p:spPr>
        <p:txBody>
          <a:bodyPr anchor="ctr" rtlCol="false" lIns="0" tIns="40640" rIns="0" bIns="40640"/>
          <a:lstStyle/>
          <a:p>
            <a:pPr algn="l" lvl="0">
              <a:lnSpc>
                <a:spcPct val="99600"/>
              </a:lnSpc>
            </a:pPr>
            <a:r>
              <a:rPr lang="en-US" sz="3200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소프트웨어 아키텍처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5000" y="596900"/>
            <a:ext cx="23139400" cy="1422400"/>
          </a:xfrm>
          <a:prstGeom prst="rect">
            <a:avLst/>
          </a:prstGeom>
        </p:spPr>
        <p:txBody>
          <a:bodyPr anchor="ctr" rtlCol="false" lIns="0" tIns="101600" rIns="0" bIns="101600"/>
          <a:lstStyle/>
          <a:p>
            <a:pPr algn="ctr" lvl="0">
              <a:lnSpc>
                <a:spcPct val="99600"/>
              </a:lnSpc>
            </a:pPr>
            <a:r>
              <a:rPr lang="en-US" sz="8000" b="false" i="false" u="none" strike="noStrike" spc="-5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시스템 구성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8F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787900" y="12954000"/>
            <a:ext cx="33058100" cy="120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877800"/>
            <a:ext cx="23012400" cy="88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961100" y="7454900"/>
            <a:ext cx="4368800" cy="546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66" b="false" i="false" u="none" strike="noStrike" spc="-100">
                <a:solidFill>
                  <a:srgbClr val="000000"/>
                </a:solidFill>
                <a:latin typeface="SB AggroOTF Bold"/>
                <a:ea typeface="SB AggroOTF Bold"/>
                <a:cs typeface="SB AggroOTF Bold"/>
              </a:rPr>
              <a:t>사용자 친화적 인터페이스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973800" y="8115300"/>
            <a:ext cx="4356100" cy="250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직관적인 UI 디자인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간편한 설정 방법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시각적 피드백 제공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터치/버튼 입력 지원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상태 표시 기능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117600" y="7518400"/>
            <a:ext cx="97409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14600" y="2692400"/>
            <a:ext cx="1270000" cy="1003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667000" y="27940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01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445500" y="2692400"/>
            <a:ext cx="1270000" cy="10033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8597900" y="27940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02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554200" y="2692400"/>
            <a:ext cx="1270000" cy="1003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4706600" y="27940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03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523200" y="2692400"/>
            <a:ext cx="1270000" cy="1003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41400" y="4229100"/>
            <a:ext cx="4241800" cy="2501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59600" y="4229100"/>
            <a:ext cx="4241800" cy="2501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093700" y="4229100"/>
            <a:ext cx="4241800" cy="2501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024600" y="4229100"/>
            <a:ext cx="4241800" cy="2501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289800" y="7518400"/>
            <a:ext cx="9740900" cy="12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309600" y="7518400"/>
            <a:ext cx="9740900" cy="12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0675600" y="27940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17500" y="7454900"/>
            <a:ext cx="4368800" cy="546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66" b="false" i="false" u="none" strike="noStrike" spc="-100">
                <a:solidFill>
                  <a:srgbClr val="000000"/>
                </a:solidFill>
                <a:latin typeface="SB AggroOTF Bold"/>
                <a:ea typeface="SB AggroOTF Bold"/>
                <a:cs typeface="SB AggroOTF Bold"/>
              </a:rPr>
              <a:t>단계별 알람 강도 조절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17500" y="8115300"/>
            <a:ext cx="4356100" cy="250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점진적 볼륨 증가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- 3단계 강도 조절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부드러운 기상 유도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반응 감지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최적 강도 자동 설정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08800" y="7454900"/>
            <a:ext cx="4368800" cy="546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66" b="false" i="false" u="none" strike="noStrike" spc="-100">
                <a:solidFill>
                  <a:srgbClr val="000000"/>
                </a:solidFill>
                <a:latin typeface="SB AggroOTF Bold"/>
                <a:ea typeface="SB AggroOTF Bold"/>
                <a:cs typeface="SB AggroOTF Bold"/>
              </a:rPr>
              <a:t>맞춤형 알람 설정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08800" y="8115300"/>
            <a:ext cx="4356100" cy="250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개인별 알람 시간 설정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요일별 알람 구성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알람 소리 선택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알람 레이블 지정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우선순위 설정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7900" y="7454900"/>
            <a:ext cx="4368800" cy="546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66" b="false" i="false" u="none" strike="noStrike" spc="-100">
                <a:solidFill>
                  <a:srgbClr val="000000"/>
                </a:solidFill>
                <a:latin typeface="SB AggroOTF Bold"/>
                <a:ea typeface="SB AggroOTF Bold"/>
                <a:cs typeface="SB AggroOTF Bold"/>
              </a:rPr>
              <a:t>스마트 알람 기능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7900" y="8115300"/>
            <a:ext cx="4356100" cy="250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정확한 시간 알람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반복 알람 설정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다중 알람 지원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스누즈 기능</a:t>
            </a:r>
          </a:p>
          <a:p>
            <a:pPr algn="ctr" lvl="0">
              <a:lnSpc>
                <a:spcPct val="11702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자동 볼륨 조절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5000" y="596900"/>
            <a:ext cx="23139400" cy="1422400"/>
          </a:xfrm>
          <a:prstGeom prst="rect">
            <a:avLst/>
          </a:prstGeom>
        </p:spPr>
        <p:txBody>
          <a:bodyPr anchor="ctr" rtlCol="false" lIns="0" tIns="101600" rIns="0" bIns="101600"/>
          <a:lstStyle/>
          <a:p>
            <a:pPr algn="ctr" lvl="0">
              <a:lnSpc>
                <a:spcPct val="99600"/>
              </a:lnSpc>
            </a:pPr>
            <a:r>
              <a:rPr lang="en-US" sz="8000" b="false" i="false" u="none" strike="noStrike" spc="-5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주요 기능 (1)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8F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787900" y="12954000"/>
            <a:ext cx="33058100" cy="120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877800"/>
            <a:ext cx="23012400" cy="88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77900" y="1143000"/>
            <a:ext cx="22745700" cy="1422400"/>
          </a:xfrm>
          <a:prstGeom prst="rect">
            <a:avLst/>
          </a:prstGeom>
        </p:spPr>
        <p:txBody>
          <a:bodyPr anchor="ctr" rtlCol="false" lIns="0" tIns="101600" rIns="0" bIns="101600"/>
          <a:lstStyle/>
          <a:p>
            <a:pPr algn="l" lvl="0">
              <a:lnSpc>
                <a:spcPct val="99600"/>
              </a:lnSpc>
            </a:pPr>
            <a:r>
              <a:rPr lang="en-US" sz="8000" b="false" i="false" u="none" strike="noStrike" spc="-3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주요 기능 (2)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254000"/>
            <a:ext cx="4699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2100" y="1358900"/>
            <a:ext cx="88900" cy="88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698200" y="3683000"/>
            <a:ext cx="4699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682200" y="2794000"/>
            <a:ext cx="88900" cy="88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05000" y="3403600"/>
            <a:ext cx="6032500" cy="902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905000" y="3416300"/>
            <a:ext cx="254000" cy="8978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590800" y="4572000"/>
            <a:ext cx="4965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사용자 인터페이스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90800" y="5270500"/>
            <a:ext cx="4953000" cy="505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직관적인 터치스크린 인터페이스 제공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간편한 알람 설정 및 관리 화면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실시간 시간 표시 및 날씨 정보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맞춤형 테마 선택 가능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라즈베리파이3 디스플레이 최적화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음성 명령 지원 기능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밝기 자동 조절 기능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1900" y="2959100"/>
            <a:ext cx="1270000" cy="1003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371600" y="30734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01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12300" y="3403600"/>
            <a:ext cx="6032500" cy="902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512300" y="3416300"/>
            <a:ext cx="254000" cy="8978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210800" y="4572000"/>
            <a:ext cx="4965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알람 해제 방식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10800" y="5270500"/>
            <a:ext cx="4953000" cy="3911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단계별 미션 수행 방식 적용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간단한 수학 문제 풀이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흔들기 동작 인식 해제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QR 코드 스캔 방식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음성 인식 해제 옵션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설정 가능한 난이도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강제 기상 유도 시스템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839200" y="2959100"/>
            <a:ext cx="1270000" cy="10033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8991600" y="30734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02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19600" y="3403600"/>
            <a:ext cx="6032500" cy="902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19600" y="3416300"/>
            <a:ext cx="254000" cy="89789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7818100" y="4572000"/>
            <a:ext cx="4965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추가 편의 기능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818100" y="5270500"/>
            <a:ext cx="4953000" cy="3911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수면 패턴 분석 및 기록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날씨 기반 알람 시간 추천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스마트홈 기기 연동 기능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취침 시간 알림 서비스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수면 음악 재생 기능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일정 연동 자동 알람 설정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통계 및 리포트 제공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459200" y="2959100"/>
            <a:ext cx="1270000" cy="1003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140000">
            <a:off x="14897100" y="11112500"/>
            <a:ext cx="2044700" cy="21971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6598900" y="30734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8F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90700" y="6680200"/>
            <a:ext cx="20078700" cy="424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4787900" y="12954000"/>
            <a:ext cx="33058100" cy="120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85800" y="12877800"/>
            <a:ext cx="23012400" cy="88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73700" y="6565900"/>
            <a:ext cx="292100" cy="29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678900" y="8648700"/>
            <a:ext cx="292100" cy="292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24900" y="10706100"/>
            <a:ext cx="292100" cy="292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253700" y="2959100"/>
            <a:ext cx="520700" cy="520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339300" y="4178300"/>
            <a:ext cx="101600" cy="10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78000" y="5359400"/>
            <a:ext cx="901700" cy="1409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765800" y="4318000"/>
            <a:ext cx="8953500" cy="200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라즈베리파이3 Model B를 메인 컨트롤러로 사용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GPIO 핀을 통한 센서 및 액추에이터 제어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터치스크린 디스플레이 연결 및 구동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스피커 모듈 연동으로 알람 사운드 출력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613400" y="2730500"/>
            <a:ext cx="5562600" cy="1320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5918200" y="2997200"/>
            <a:ext cx="51054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l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라즈베리파이3 활용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471900" y="5092700"/>
            <a:ext cx="5562600" cy="13208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6764000" y="5346700"/>
            <a:ext cx="51054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l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개발 언어 및 프레임워크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70000" y="7251700"/>
            <a:ext cx="6667500" cy="250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Python 3.x 기반 메인 로직 개발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Tkinter를 활용한 GUI 구현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Flask 프레임워크로 웹 인터페이스 제공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SQLite 데이터베이스로 사용자 데이터 관리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음성 인식 라이브러리 통합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05100" y="9118600"/>
            <a:ext cx="5384800" cy="250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하드웨어 모듈 개별 테스트 및 검증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소프트웨어 컴포넌트 통합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인터페이스 연동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전체 시스템 안정성 테스트</a:t>
            </a:r>
          </a:p>
          <a:p>
            <a:pPr algn="l" lvl="0">
              <a:lnSpc>
                <a:spcPct val="117029"/>
              </a:lnSpc>
            </a:pPr>
            <a:r>
              <a:rPr lang="en-US" sz="28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최적화 및 디버깅 수행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705100" y="7467600"/>
            <a:ext cx="5562600" cy="13208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2997200" y="7734300"/>
            <a:ext cx="51054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l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시스템 통합 과정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5000" y="596900"/>
            <a:ext cx="23139400" cy="1422400"/>
          </a:xfrm>
          <a:prstGeom prst="rect">
            <a:avLst/>
          </a:prstGeom>
        </p:spPr>
        <p:txBody>
          <a:bodyPr anchor="ctr" rtlCol="false" lIns="0" tIns="101600" rIns="0" bIns="101600"/>
          <a:lstStyle/>
          <a:p>
            <a:pPr algn="ctr" lvl="0">
              <a:lnSpc>
                <a:spcPct val="99600"/>
              </a:lnSpc>
            </a:pPr>
            <a:r>
              <a:rPr lang="en-US" sz="8000" b="false" i="false" u="none" strike="noStrike" spc="-5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기술 구현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8F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787900" y="12954000"/>
            <a:ext cx="33058100" cy="120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877800"/>
            <a:ext cx="23012400" cy="88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77900" y="1143000"/>
            <a:ext cx="22745700" cy="1422400"/>
          </a:xfrm>
          <a:prstGeom prst="rect">
            <a:avLst/>
          </a:prstGeom>
        </p:spPr>
        <p:txBody>
          <a:bodyPr anchor="ctr" rtlCol="false" lIns="0" tIns="101600" rIns="0" bIns="101600"/>
          <a:lstStyle/>
          <a:p>
            <a:pPr algn="l" lvl="0">
              <a:lnSpc>
                <a:spcPct val="99600"/>
              </a:lnSpc>
            </a:pPr>
            <a:r>
              <a:rPr lang="en-US" sz="8000" b="false" i="false" u="none" strike="noStrike" spc="-3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테스트 및 검증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254000"/>
            <a:ext cx="4699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2100" y="1358900"/>
            <a:ext cx="88900" cy="88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698200" y="3683000"/>
            <a:ext cx="4699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682200" y="2794000"/>
            <a:ext cx="88900" cy="88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05000" y="3403600"/>
            <a:ext cx="6032500" cy="902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905000" y="3416300"/>
            <a:ext cx="254000" cy="8978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590800" y="4572000"/>
            <a:ext cx="4965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기능 테스트 결과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90800" y="5270500"/>
            <a:ext cx="4953000" cy="561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알람 설정 및 작동 정확도 100% 달성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다양한 해제 방식 정상 작동 확인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터치스크린 반응 속도 테스트 통과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음성 인식 정확도 95% 이상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시스템 안정성 장시간 테스트 완료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전원 관리 기능 검증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오류 복구 메커니즘 확인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1900" y="2959100"/>
            <a:ext cx="1270000" cy="1003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371600" y="30734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01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12300" y="3403600"/>
            <a:ext cx="6032500" cy="902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512300" y="3416300"/>
            <a:ext cx="254000" cy="8978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210800" y="4572000"/>
            <a:ext cx="4965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사용자 피드백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10800" y="5270500"/>
            <a:ext cx="4953000" cy="561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직관적인 인터페이스에 대한 긍정적 평가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미션 해제 방식의 효과적인 기상 유도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수면 패턴 분석 기능 유용성 확인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알람 소리 크기 조절 요구사항 반영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추가 테마 옵션 요청 다수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스마트홈 연동 기능 만족도 높음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전반적인 사용 편의성 우수 평가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839200" y="2959100"/>
            <a:ext cx="1270000" cy="10033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8991600" y="30734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02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19600" y="3403600"/>
            <a:ext cx="6032500" cy="902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19600" y="3416300"/>
            <a:ext cx="254000" cy="89789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7818100" y="4572000"/>
            <a:ext cx="4965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성능 평가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754600" y="5270500"/>
            <a:ext cx="5092700" cy="448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라즈베리파이3 CPU 사용률 평균 30%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메모리 사용량 안정적 유지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부팅 시간 15초 이내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알람 반응 지연 시간 1초 미만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- 24시간 연속 작동 안정성 확보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전력 소비 효율적 관리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전체 시스템 성능 목표치 달성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459200" y="2959100"/>
            <a:ext cx="1270000" cy="1003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140000">
            <a:off x="14897100" y="11112500"/>
            <a:ext cx="2044700" cy="21971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6598900" y="30734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8F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787900" y="12954000"/>
            <a:ext cx="33058100" cy="120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877800"/>
            <a:ext cx="23012400" cy="88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77900" y="1143000"/>
            <a:ext cx="22745700" cy="1422400"/>
          </a:xfrm>
          <a:prstGeom prst="rect">
            <a:avLst/>
          </a:prstGeom>
        </p:spPr>
        <p:txBody>
          <a:bodyPr anchor="ctr" rtlCol="false" lIns="0" tIns="101600" rIns="0" bIns="101600"/>
          <a:lstStyle/>
          <a:p>
            <a:pPr algn="l" lvl="0">
              <a:lnSpc>
                <a:spcPct val="99600"/>
              </a:lnSpc>
            </a:pPr>
            <a:r>
              <a:rPr lang="en-US" sz="8000" b="false" i="false" u="none" strike="noStrike" spc="-3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프로젝트 성과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7600" y="254000"/>
            <a:ext cx="469900" cy="46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2100" y="1358900"/>
            <a:ext cx="88900" cy="88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698200" y="3683000"/>
            <a:ext cx="469900" cy="46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682200" y="2794000"/>
            <a:ext cx="88900" cy="88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05000" y="3403600"/>
            <a:ext cx="6032500" cy="902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905000" y="3416300"/>
            <a:ext cx="254000" cy="8978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590800" y="4572000"/>
            <a:ext cx="4965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목표 달성도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90800" y="5270500"/>
            <a:ext cx="4953000" cy="505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스마트 알람 시스템 성공적 구현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라즈베리파이3 기반 안정적 작동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다양한 알람 해제 방식 적용 완료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인터페이스 개발 목표 달성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수면 패턴 분석 기능 구현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스마트홈 연동 기능 실현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전체 프로젝트 목표 95% 이상 달성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1900" y="2959100"/>
            <a:ext cx="1270000" cy="1003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371600" y="30734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01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12300" y="3403600"/>
            <a:ext cx="6032500" cy="902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512300" y="3416300"/>
            <a:ext cx="254000" cy="8978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210800" y="4572000"/>
            <a:ext cx="4965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기대 효과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10800" y="5270500"/>
            <a:ext cx="4953000" cy="3911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효과적인 기상 습관 형성 지원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아침 시간 활용도 향상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수면의 질 개선 기여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일정 관리 효율성 증대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스마트홈 생태계 확장 기여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IoT 기술 활용 사례 제시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생활 패턴 최적화 지원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839200" y="2959100"/>
            <a:ext cx="1270000" cy="10033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8991600" y="30734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02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119600" y="3403600"/>
            <a:ext cx="6032500" cy="902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19600" y="3416300"/>
            <a:ext cx="254000" cy="89789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7818100" y="4572000"/>
            <a:ext cx="4965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개선된 아침 루틴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818100" y="5270500"/>
            <a:ext cx="4953000" cy="561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알람 미션을 통한 확실한 기상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수면 데이터 기반 최적 기상 시간 설정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날씨 정보 연동으로 준비 시간 확보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일정 자동 연동으로 지각 방지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단계적 알람으로 자연스러운 각성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취침 알림으로 규칙적인 수면 습관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전반적인 아침 루틴 효율성 향상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459200" y="2959100"/>
            <a:ext cx="1270000" cy="1003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140000">
            <a:off x="14897100" y="11112500"/>
            <a:ext cx="2044700" cy="21971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6598900" y="30734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8F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787900" y="12954000"/>
            <a:ext cx="33058100" cy="12065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77900" y="1143000"/>
            <a:ext cx="22745700" cy="1422400"/>
          </a:xfrm>
          <a:prstGeom prst="rect">
            <a:avLst/>
          </a:prstGeom>
        </p:spPr>
        <p:txBody>
          <a:bodyPr anchor="ctr" rtlCol="false" lIns="0" tIns="101600" rIns="0" bIns="101600"/>
          <a:lstStyle/>
          <a:p>
            <a:pPr algn="l" lvl="0">
              <a:lnSpc>
                <a:spcPct val="99600"/>
              </a:lnSpc>
            </a:pPr>
            <a:r>
              <a:rPr lang="en-US" sz="8000" b="false" i="false" u="none" strike="noStrike" spc="-3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향후 개선 방향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17600" y="254000"/>
            <a:ext cx="4699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92100" y="1358900"/>
            <a:ext cx="88900" cy="88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96900" y="2781300"/>
            <a:ext cx="23012400" cy="5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84200" y="5308600"/>
            <a:ext cx="230124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06400" y="7848600"/>
            <a:ext cx="230124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06400" y="10375900"/>
            <a:ext cx="230124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406400" y="12915900"/>
            <a:ext cx="23012400" cy="5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0200" y="3568700"/>
            <a:ext cx="1270000" cy="1003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752600" y="36957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40100" y="3098800"/>
            <a:ext cx="19570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추가 기능 계획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40100" y="3924300"/>
            <a:ext cx="195580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AI 기반 수면 패턴 예측 및 최적 알람 시간 자동 설정 기능 추가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생체 신호 측정 센서 통합으로 수면 단계 분석 고도화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00200" y="6134100"/>
            <a:ext cx="1270000" cy="10033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752600" y="62611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40100" y="5664200"/>
            <a:ext cx="19570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시스템 고도화 방안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40100" y="6489700"/>
            <a:ext cx="195580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라즈베리파이4로 업그레이드하여 처리 성능 향상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클라우드 서버 연동으로 데이터 백업 및 다중 기기 동기화 구현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0200" y="8648700"/>
            <a:ext cx="1270000" cy="10033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752600" y="87630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40100" y="8178800"/>
            <a:ext cx="19570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확장 가능성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40100" y="9004300"/>
            <a:ext cx="195580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모바일 앱 개발로 원격 제어 및 모니터링 기능 제공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다양한 IoT 기기와의 연동 확대로 스마트홈 허브 역할 수행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00200" y="11214100"/>
            <a:ext cx="1270000" cy="10033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752600" y="11341100"/>
            <a:ext cx="990600" cy="596900"/>
          </a:xfrm>
          <a:prstGeom prst="rect">
            <a:avLst/>
          </a:prstGeom>
        </p:spPr>
        <p:txBody>
          <a:bodyPr anchor="ctr" rtlCol="false" lIns="0" tIns="42333" rIns="0" bIns="42333"/>
          <a:lstStyle/>
          <a:p>
            <a:pPr algn="ctr" lvl="0">
              <a:lnSpc>
                <a:spcPct val="99600"/>
              </a:lnSpc>
            </a:pPr>
            <a:r>
              <a:rPr lang="en-US" sz="3333" b="true" i="false" u="none" strike="noStrike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40100" y="10744200"/>
            <a:ext cx="19570700" cy="571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00" b="false" i="false" u="none" strike="noStrike" spc="-3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장기 발전 전략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40100" y="11569700"/>
            <a:ext cx="195580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상용화 가능성 검토 및 시장 진입 전략 수립</a:t>
            </a:r>
          </a:p>
          <a:p>
            <a:pPr algn="l" lvl="0">
              <a:lnSpc>
                <a:spcPct val="1328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오픈소스 프로젝트로 공개하여 커뮤니티 기여 및 협업 확대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8F8F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" y="12877800"/>
            <a:ext cx="23012400" cy="8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4787900" y="12954000"/>
            <a:ext cx="33058100" cy="120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96900" y="2781300"/>
            <a:ext cx="23012400" cy="5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451100" y="9842500"/>
            <a:ext cx="6096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71600" y="11264900"/>
            <a:ext cx="127000" cy="127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005800" y="3695700"/>
            <a:ext cx="609600" cy="60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961600" y="4914900"/>
            <a:ext cx="114300" cy="11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160000">
            <a:off x="21234400" y="10668000"/>
            <a:ext cx="2755900" cy="2971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380000">
            <a:off x="1346200" y="3416300"/>
            <a:ext cx="2120900" cy="2286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4152900" y="3695700"/>
            <a:ext cx="16103600" cy="746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4666" b="false" i="false" u="none" strike="noStrike" spc="-4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MOMS는 'Make Our Morning Successful' 목표로 라즈베리파이3 기반 스마트 알람을 구현했습니다.</a:t>
            </a:r>
          </a:p>
          <a:p>
            <a:pPr algn="ctr" lvl="0">
              <a:lnSpc>
                <a:spcPct val="132800"/>
              </a:lnSpc>
            </a:pPr>
            <a:r>
              <a:rPr lang="en-US" sz="4666" b="false" i="false" u="none" strike="noStrike" spc="-4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다양한 알람 해제 방식, 수면 패턴 분석 및 스마트홈 연동으로 효과적인 기상과 개선된 아침 루틴을 지원합니다.</a:t>
            </a:r>
          </a:p>
          <a:p>
            <a:pPr algn="ctr" lvl="0">
              <a:lnSpc>
                <a:spcPct val="132800"/>
              </a:lnSpc>
            </a:pPr>
            <a:r>
              <a:rPr lang="en-US" sz="4666" b="false" i="false" u="none" strike="noStrike" spc="-4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테스트에서 높은 안정성과 사용자 만족도를 확인했으며, AI 접목과 모바일 앱 개발로 지속 발전시킬 계획입니다.</a:t>
            </a:r>
          </a:p>
          <a:p>
            <a:pPr algn="ctr" lvl="0">
              <a:lnSpc>
                <a:spcPct val="132800"/>
              </a:lnSpc>
            </a:pPr>
            <a:r>
              <a:rPr lang="en-US" sz="4666" b="false" i="false" u="none" strike="noStrike" spc="-400">
                <a:solidFill>
                  <a:srgbClr val="222222"/>
                </a:solidFill>
                <a:latin typeface="Pretendard Bold"/>
                <a:ea typeface="Pretendard Bold"/>
                <a:cs typeface="Pretendard Bold"/>
              </a:rPr>
              <a:t>MOMS는 단순 알람을 넘어 삶의 질을 높이는 스마트 솔루션으로 자리매김할 것입니다.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5000" y="596900"/>
            <a:ext cx="23139400" cy="1422400"/>
          </a:xfrm>
          <a:prstGeom prst="rect">
            <a:avLst/>
          </a:prstGeom>
        </p:spPr>
        <p:txBody>
          <a:bodyPr anchor="ctr" rtlCol="false" lIns="0" tIns="101600" rIns="0" bIns="101600"/>
          <a:lstStyle/>
          <a:p>
            <a:pPr algn="ctr" lvl="0">
              <a:lnSpc>
                <a:spcPct val="99600"/>
              </a:lnSpc>
            </a:pPr>
            <a:r>
              <a:rPr lang="en-US" sz="8000" b="false" i="false" u="none" strike="noStrike" spc="-500">
                <a:solidFill>
                  <a:srgbClr val="000000"/>
                </a:solidFill>
                <a:latin typeface="SB AggroOTF Medium"/>
                <a:ea typeface="SB AggroOTF Medium"/>
                <a:cs typeface="SB AggroOTF Medium"/>
              </a:rPr>
              <a:t>결론 및 마무리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